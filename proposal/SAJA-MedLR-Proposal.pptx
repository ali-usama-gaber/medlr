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ee7c391-9bb7-9941-27be-a38ec7ca5a71}">
          <p14:sldIdLst>
            <p14:sldId id="256"/>
            <p14:sldId id="257"/>
          </p14:sldIdLst>
        </p14:section>
        <p14:section name="The platform" id="{38dcfbf4-0b76-574d-eb43-dad90569dedd}">
          <p14:sldIdLst>
            <p14:sldId id="258"/>
            <p14:sldId id="259"/>
            <p14:sldId id="260"/>
          </p14:sldIdLst>
        </p14:section>
        <p14:section name="Prototype" id="{941a6603-c09f-4bc0-0106-fc1d60a9d6a4}">
          <p14:sldIdLst>
            <p14:sldId id="261"/>
            <p14:sldId id="262"/>
            <p14:sldId id="263"/>
          </p14:sldIdLst>
        </p14:section>
        <p14:section name="Value and delivery" id="{7b4a1779-0fe3-2984-f798-c75cd280a6f8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Blue | InTelligancia and the purpose of the meeting: a proposal to build SAJA MedLR, with a clickable prototype ready to walk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from SAJA's side: duplicated review effort, slow launches, and risk when approved content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parts of the product. Modules are the unit of approval; the library is where approved modules live; assets are assembled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that step 3 is where the module becomes reusable.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user types: Content Owner, Medical, Legal, Regulatory, Marketing and Administrator. The first five have Junior and Senior levels; seniority decides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Durations are indicative (about 20 weeks in total) and will be confirmed in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edLR/proposal/assets/saj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903491" cy="219456"/>
          </a:xfrm>
          <a:prstGeom prst="rect">
            <a:avLst/>
          </a:prstGeom>
        </p:spPr>
      </p:pic>
      <p:pic>
        <p:nvPicPr>
          <p:cNvPr id="3" name="Image 1" descr="/home/user/MedLR/proposal/assets/company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994" y="4718304"/>
            <a:ext cx="1275806" cy="1828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anel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SAJA logo" descr="/home/user/MedLR/proposal/assets/saj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581110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PROPOSAL · OCTOBER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 MedLR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modular content and MLR review platform for SAJA Pharma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Create once.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Approve once.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Reuse safely.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Prepared by</a:t>
            </a:r>
            <a:endParaRPr lang="en-US" sz="1000" dirty="0"/>
          </a:p>
        </p:txBody>
      </p:sp>
      <p:pic>
        <p:nvPicPr>
          <p:cNvPr id="9" name="Blue InTelligancia logo" descr="/home/user/MedLR/proposal/assets/company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1913709" cy="274320"/>
          </a:xfrm>
          <a:prstGeom prst="rect">
            <a:avLst/>
          </a:prstGeom>
        </p:spPr>
      </p:pic>
      <p:sp>
        <p:nvSpPr>
          <p:cNvPr id="10" name="Product screenshot frame"/>
          <p:cNvSpPr/>
          <p:nvPr/>
        </p:nvSpPr>
        <p:spPr>
          <a:xfrm>
            <a:off x="5294376" y="1179576"/>
            <a:ext cx="3538728" cy="2252853"/>
          </a:xfrm>
          <a:prstGeom prst="roundRect">
            <a:avLst>
              <a:gd name="adj" fmla="val 3247"/>
            </a:avLst>
          </a:prstGeom>
          <a:solidFill>
            <a:srgbClr val="0D1F17"/>
          </a:solidFill>
          <a:ln/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pic>
        <p:nvPicPr>
          <p:cNvPr id="11" name="Product screenshot" descr="/home/user/MedLR/proposal/assets/shot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34440"/>
            <a:ext cx="3429000" cy="2143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9240" y="3520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C2"/>
                </a:solidFill>
              </a:rPr>
              <a:t>Working prototype · ali-usama-gaber.github.io/MedLR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Today every material is reviewed from scratch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claim is checked again in each email, detail aid and banner</a:t>
            </a:r>
            <a:endParaRPr lang="en-US" sz="1300" dirty="0"/>
          </a:p>
        </p:txBody>
      </p:sp>
      <p:sp>
        <p:nvSpPr>
          <p:cNvPr id="4" name="Challenge 1"/>
          <p:cNvSpPr/>
          <p:nvPr/>
        </p:nvSpPr>
        <p:spPr>
          <a:xfrm>
            <a:off x="45720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5" name="Challenge 1 circle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C8961C"/>
          </a:solidFill>
          <a:ln/>
        </p:spPr>
      </p:sp>
      <p:pic>
        <p:nvPicPr>
          <p:cNvPr id="6" name="Challenge 1 icon" descr="/home/user/MedLR/proposal/assets/icons/undo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Repeated reviews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Medical, Legal and Regulatory re-check the same approved claims in every new material.</a:t>
            </a:r>
            <a:endParaRPr lang="en-US" sz="1400" dirty="0"/>
          </a:p>
        </p:txBody>
      </p:sp>
      <p:sp>
        <p:nvSpPr>
          <p:cNvPr id="9" name="Challenge 2"/>
          <p:cNvSpPr/>
          <p:nvPr/>
        </p:nvSpPr>
        <p:spPr>
          <a:xfrm>
            <a:off x="324612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0" name="Challenge 2 circle"/>
          <p:cNvSpPr/>
          <p:nvPr/>
        </p:nvSpPr>
        <p:spPr>
          <a:xfrm>
            <a:off x="3520440" y="1737360"/>
            <a:ext cx="566928" cy="566928"/>
          </a:xfrm>
          <a:prstGeom prst="ellipse">
            <a:avLst/>
          </a:prstGeom>
          <a:solidFill>
            <a:srgbClr val="C8961C"/>
          </a:solidFill>
          <a:ln/>
        </p:spPr>
      </p:sp>
      <p:pic>
        <p:nvPicPr>
          <p:cNvPr id="11" name="Challenge 2 icon" descr="/home/user/MedLR/proposal/assets/icons/clo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41" y="18847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Slow time to market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asset waits for a full review cycle, even when most of its content is already approved.</a:t>
            </a:r>
            <a:endParaRPr lang="en-US" sz="1400" dirty="0"/>
          </a:p>
        </p:txBody>
      </p:sp>
      <p:sp>
        <p:nvSpPr>
          <p:cNvPr id="14" name="Challenge 3"/>
          <p:cNvSpPr/>
          <p:nvPr/>
        </p:nvSpPr>
        <p:spPr>
          <a:xfrm>
            <a:off x="603504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5" name="Challenge 3 circle"/>
          <p:cNvSpPr/>
          <p:nvPr/>
        </p:nvSpPr>
        <p:spPr>
          <a:xfrm>
            <a:off x="6309360" y="1737360"/>
            <a:ext cx="566928" cy="566928"/>
          </a:xfrm>
          <a:prstGeom prst="ellipse">
            <a:avLst/>
          </a:prstGeom>
          <a:solidFill>
            <a:srgbClr val="D23A42"/>
          </a:solidFill>
          <a:ln/>
        </p:spPr>
      </p:sp>
      <p:pic>
        <p:nvPicPr>
          <p:cNvPr id="16" name="Challenge 3 icon" descr="/home/user/MedLR/proposal/assets/icons/ale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761" y="18847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 to control change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a claim or safety statement changes, nobody knows every material that still uses the old 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Approve content once, reuse it everywhere</a:t>
            </a:r>
            <a:endParaRPr lang="en-US" sz="2600" dirty="0"/>
          </a:p>
        </p:txBody>
      </p:sp>
      <p:sp>
        <p:nvSpPr>
          <p:cNvPr id="3" name="Pillar 1"/>
          <p:cNvSpPr/>
          <p:nvPr/>
        </p:nvSpPr>
        <p:spPr>
          <a:xfrm>
            <a:off x="457200" y="1325880"/>
            <a:ext cx="2606040" cy="2971800"/>
          </a:xfrm>
          <a:prstGeom prst="roundRect">
            <a:avLst>
              <a:gd name="adj" fmla="val 4211"/>
            </a:avLst>
          </a:prstGeom>
          <a:solidFill>
            <a:srgbClr val="17352A"/>
          </a:solidFill>
          <a:ln w="9525">
            <a:solidFill>
              <a:srgbClr val="2C5442"/>
            </a:solidFill>
            <a:prstDash val="solid"/>
          </a:ln>
        </p:spPr>
      </p:sp>
      <p:sp>
        <p:nvSpPr>
          <p:cNvPr id="4" name="Pillar 1 circle"/>
          <p:cNvSpPr/>
          <p:nvPr/>
        </p:nvSpPr>
        <p:spPr>
          <a:xfrm>
            <a:off x="731520" y="1600200"/>
            <a:ext cx="603504" cy="603504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5" name="Pillar 1 icon" descr="/home/user/MedLR/proposal/assets/icons/gri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431" y="1757111"/>
            <a:ext cx="289682" cy="2896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Modules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CD1"/>
                </a:solidFill>
              </a:rPr>
              <a:t>Small building blocks of content: one claim, one safety statement, one headline. Each is written once and approved once.</a:t>
            </a:r>
            <a:endParaRPr lang="en-US" sz="1400" dirty="0"/>
          </a:p>
        </p:txBody>
      </p:sp>
      <p:sp>
        <p:nvSpPr>
          <p:cNvPr id="8" name="Pillar 2"/>
          <p:cNvSpPr/>
          <p:nvPr/>
        </p:nvSpPr>
        <p:spPr>
          <a:xfrm>
            <a:off x="3246120" y="1325880"/>
            <a:ext cx="2606040" cy="2971800"/>
          </a:xfrm>
          <a:prstGeom prst="roundRect">
            <a:avLst>
              <a:gd name="adj" fmla="val 4211"/>
            </a:avLst>
          </a:prstGeom>
          <a:solidFill>
            <a:srgbClr val="17352A"/>
          </a:solidFill>
          <a:ln w="9525">
            <a:solidFill>
              <a:srgbClr val="2C5442"/>
            </a:solidFill>
            <a:prstDash val="solid"/>
          </a:ln>
        </p:spPr>
      </p:sp>
      <p:sp>
        <p:nvSpPr>
          <p:cNvPr id="9" name="Pillar 2 circle"/>
          <p:cNvSpPr/>
          <p:nvPr/>
        </p:nvSpPr>
        <p:spPr>
          <a:xfrm>
            <a:off x="3520440" y="1600200"/>
            <a:ext cx="603504" cy="603504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10" name="Pillar 2 icon" descr="/home/user/MedLR/proposal/assets/icons/boo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51" y="175711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Library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CD1"/>
                </a:solidFill>
              </a:rPr>
              <a:t>The Approved Library: the trusted collection of approved modules, searchable by product, market, audience and channel.</a:t>
            </a:r>
            <a:endParaRPr lang="en-US" sz="1400" dirty="0"/>
          </a:p>
        </p:txBody>
      </p:sp>
      <p:sp>
        <p:nvSpPr>
          <p:cNvPr id="13" name="Pillar 3"/>
          <p:cNvSpPr/>
          <p:nvPr/>
        </p:nvSpPr>
        <p:spPr>
          <a:xfrm>
            <a:off x="6035040" y="1325880"/>
            <a:ext cx="2606040" cy="2971800"/>
          </a:xfrm>
          <a:prstGeom prst="roundRect">
            <a:avLst>
              <a:gd name="adj" fmla="val 4211"/>
            </a:avLst>
          </a:prstGeom>
          <a:solidFill>
            <a:srgbClr val="17352A"/>
          </a:solidFill>
          <a:ln w="9525">
            <a:solidFill>
              <a:srgbClr val="2C5442"/>
            </a:solidFill>
            <a:prstDash val="solid"/>
          </a:ln>
        </p:spPr>
      </p:sp>
      <p:sp>
        <p:nvSpPr>
          <p:cNvPr id="14" name="Pillar 3 circle"/>
          <p:cNvSpPr/>
          <p:nvPr/>
        </p:nvSpPr>
        <p:spPr>
          <a:xfrm>
            <a:off x="6309360" y="1600200"/>
            <a:ext cx="603504" cy="603504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15" name="Pillar 3 icon" descr="/home/user/MedLR/proposal/assets/icons/laye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71" y="175711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Assets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CD1"/>
                </a:solidFill>
              </a:rPr>
              <a:t>Finished materials built from library modules. Only new text goes back for review.</a:t>
            </a:r>
            <a:endParaRPr lang="en-US" sz="1400" dirty="0"/>
          </a:p>
        </p:txBody>
      </p:sp>
      <p:pic>
        <p:nvPicPr>
          <p:cNvPr id="18" name="Blue InTelligancia logo" descr="/home/user/MedLR/proposal/assets/company-logo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994" y="4681728"/>
            <a:ext cx="127580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How content moves through the system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Five steps, from a first draft to a tracked, reusable piece of content</a:t>
            </a:r>
            <a:endParaRPr lang="en-US" sz="1300" dirty="0"/>
          </a:p>
        </p:txBody>
      </p:sp>
      <p:sp>
        <p:nvSpPr>
          <p:cNvPr id="4" name="Step 1"/>
          <p:cNvSpPr/>
          <p:nvPr/>
        </p:nvSpPr>
        <p:spPr>
          <a:xfrm>
            <a:off x="457200" y="160020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tep 1 circle"/>
          <p:cNvSpPr/>
          <p:nvPr/>
        </p:nvSpPr>
        <p:spPr>
          <a:xfrm>
            <a:off x="640080" y="2103120"/>
            <a:ext cx="530352" cy="530352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7" name="Step 1 icon" descr="/home/user/MedLR/proposal/assets/icons/edi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2241012"/>
            <a:ext cx="254569" cy="25456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761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Content Owner writes a module</a:t>
            </a:r>
            <a:endParaRPr lang="en-US" sz="1200" dirty="0"/>
          </a:p>
        </p:txBody>
      </p:sp>
      <p:sp>
        <p:nvSpPr>
          <p:cNvPr id="10" name="Arrow 1"/>
          <p:cNvSpPr/>
          <p:nvPr/>
        </p:nvSpPr>
        <p:spPr>
          <a:xfrm>
            <a:off x="1993392" y="2670048"/>
            <a:ext cx="146304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11" name="Step 2"/>
          <p:cNvSpPr/>
          <p:nvPr/>
        </p:nvSpPr>
        <p:spPr>
          <a:xfrm>
            <a:off x="2157984" y="160020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340864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tep 2 circle"/>
          <p:cNvSpPr/>
          <p:nvPr/>
        </p:nvSpPr>
        <p:spPr>
          <a:xfrm>
            <a:off x="2340864" y="2103120"/>
            <a:ext cx="530352" cy="530352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14" name="Step 2 icon" descr="/home/user/MedLR/proposal/assets/icons/shield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756" y="2241012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40864" y="2761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340864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Medical, Legal and Regulatory check it</a:t>
            </a:r>
            <a:endParaRPr lang="en-US" sz="1200" dirty="0"/>
          </a:p>
        </p:txBody>
      </p:sp>
      <p:sp>
        <p:nvSpPr>
          <p:cNvPr id="17" name="Arrow 2"/>
          <p:cNvSpPr/>
          <p:nvPr/>
        </p:nvSpPr>
        <p:spPr>
          <a:xfrm>
            <a:off x="3694176" y="2670048"/>
            <a:ext cx="146304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18" name="Step 3"/>
          <p:cNvSpPr/>
          <p:nvPr/>
        </p:nvSpPr>
        <p:spPr>
          <a:xfrm>
            <a:off x="3858768" y="1600200"/>
            <a:ext cx="1517904" cy="2377440"/>
          </a:xfrm>
          <a:prstGeom prst="roundRect">
            <a:avLst>
              <a:gd name="adj" fmla="val 7229"/>
            </a:avLst>
          </a:prstGeom>
          <a:solidFill>
            <a:srgbClr val="E3F3E9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041648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Step 3 circle"/>
          <p:cNvSpPr/>
          <p:nvPr/>
        </p:nvSpPr>
        <p:spPr>
          <a:xfrm>
            <a:off x="4041648" y="2103120"/>
            <a:ext cx="530352" cy="530352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21" name="Step 3 icon" descr="/home/user/MedLR/proposal/assets/icons/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540" y="2241012"/>
            <a:ext cx="254569" cy="25456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041648" y="2761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041648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Senior reviewers sign off</a:t>
            </a:r>
            <a:endParaRPr lang="en-US" sz="1200" dirty="0"/>
          </a:p>
        </p:txBody>
      </p:sp>
      <p:sp>
        <p:nvSpPr>
          <p:cNvPr id="24" name="Arrow 3"/>
          <p:cNvSpPr/>
          <p:nvPr/>
        </p:nvSpPr>
        <p:spPr>
          <a:xfrm>
            <a:off x="5394960" y="2670048"/>
            <a:ext cx="146304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25" name="Step 4"/>
          <p:cNvSpPr/>
          <p:nvPr/>
        </p:nvSpPr>
        <p:spPr>
          <a:xfrm>
            <a:off x="5559552" y="160020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5742432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Step 4 circle"/>
          <p:cNvSpPr/>
          <p:nvPr/>
        </p:nvSpPr>
        <p:spPr>
          <a:xfrm>
            <a:off x="5742432" y="2103120"/>
            <a:ext cx="530352" cy="530352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28" name="Step 4 icon" descr="/home/user/MedLR/proposal/assets/icons/layer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324" y="2241012"/>
            <a:ext cx="254569" cy="254569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742432" y="2761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5742432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Marketing assembles assets</a:t>
            </a:r>
            <a:endParaRPr lang="en-US" sz="1200" dirty="0"/>
          </a:p>
        </p:txBody>
      </p:sp>
      <p:sp>
        <p:nvSpPr>
          <p:cNvPr id="31" name="Arrow 4"/>
          <p:cNvSpPr/>
          <p:nvPr/>
        </p:nvSpPr>
        <p:spPr>
          <a:xfrm>
            <a:off x="7095744" y="2670048"/>
            <a:ext cx="146304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32" name="Step 5"/>
          <p:cNvSpPr/>
          <p:nvPr/>
        </p:nvSpPr>
        <p:spPr>
          <a:xfrm>
            <a:off x="7260336" y="160020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7443216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Step 5 circle"/>
          <p:cNvSpPr/>
          <p:nvPr/>
        </p:nvSpPr>
        <p:spPr>
          <a:xfrm>
            <a:off x="7443216" y="2103120"/>
            <a:ext cx="530352" cy="530352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35" name="Step 5 icon" descr="/home/user/MedLR/proposal/assets/icons/history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108" y="2241012"/>
            <a:ext cx="254569" cy="254569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443216" y="2761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Track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7443216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Expiry, versions and audit trail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An approved module appears in the Approved Library straight away and can be reused in any eligible asset.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MLR review with Junior and Senior reviewers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review route is configured by an administrator, not fixed in code</a:t>
            </a:r>
            <a:endParaRPr lang="en-US" sz="1300" dirty="0"/>
          </a:p>
        </p:txBody>
      </p:sp>
      <p:sp>
        <p:nvSpPr>
          <p:cNvPr id="4" name="Medical circle"/>
          <p:cNvSpPr/>
          <p:nvPr/>
        </p:nvSpPr>
        <p:spPr>
          <a:xfrm>
            <a:off x="457200" y="1536192"/>
            <a:ext cx="548640" cy="548640"/>
          </a:xfrm>
          <a:prstGeom prst="ellipse">
            <a:avLst/>
          </a:prstGeom>
          <a:solidFill>
            <a:srgbClr val="204289"/>
          </a:solidFill>
          <a:ln/>
        </p:spPr>
      </p:sp>
      <p:pic>
        <p:nvPicPr>
          <p:cNvPr id="5" name="Medical icon" descr="/home/user/MedLR/proposal/assets/icons/stethoscop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678838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664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Medical</a:t>
            </a:r>
            <a:endParaRPr lang="en-US" sz="1600" dirty="0"/>
          </a:p>
        </p:txBody>
      </p:sp>
      <p:sp>
        <p:nvSpPr>
          <p:cNvPr id="7" name="Medical junior"/>
          <p:cNvSpPr/>
          <p:nvPr/>
        </p:nvSpPr>
        <p:spPr>
          <a:xfrm>
            <a:off x="2286000" y="1463040"/>
            <a:ext cx="178308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450592" y="1581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Junior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Reviews, passes on</a:t>
            </a:r>
            <a:endParaRPr lang="en-US" sz="1300" dirty="0"/>
          </a:p>
        </p:txBody>
      </p:sp>
      <p:sp>
        <p:nvSpPr>
          <p:cNvPr id="9" name="Medical arrow"/>
          <p:cNvSpPr/>
          <p:nvPr/>
        </p:nvSpPr>
        <p:spPr>
          <a:xfrm>
            <a:off x="4160520" y="1709928"/>
            <a:ext cx="201168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10" name="Medical senior"/>
          <p:cNvSpPr/>
          <p:nvPr/>
        </p:nvSpPr>
        <p:spPr>
          <a:xfrm>
            <a:off x="4453128" y="1463040"/>
            <a:ext cx="1691640" cy="694944"/>
          </a:xfrm>
          <a:prstGeom prst="roundRect">
            <a:avLst>
              <a:gd name="adj" fmla="val 15789"/>
            </a:avLst>
          </a:prstGeom>
          <a:solidFill>
            <a:srgbClr val="E3F3E9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Senior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approval</a:t>
            </a:r>
            <a:endParaRPr lang="en-US" sz="1300" dirty="0"/>
          </a:p>
        </p:txBody>
      </p:sp>
      <p:sp>
        <p:nvSpPr>
          <p:cNvPr id="12" name="Legal circle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204289"/>
          </a:solidFill>
          <a:ln/>
        </p:spPr>
      </p:sp>
      <p:pic>
        <p:nvPicPr>
          <p:cNvPr id="13" name="Legal icon" descr="/home/user/MedLR/proposal/assets/icons/sca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25968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Legal</a:t>
            </a:r>
            <a:endParaRPr lang="en-US" sz="1600" dirty="0"/>
          </a:p>
        </p:txBody>
      </p:sp>
      <p:sp>
        <p:nvSpPr>
          <p:cNvPr id="15" name="Legal junior"/>
          <p:cNvSpPr/>
          <p:nvPr/>
        </p:nvSpPr>
        <p:spPr>
          <a:xfrm>
            <a:off x="2286000" y="2395728"/>
            <a:ext cx="178308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2450592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Junior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Reviews, passes on</a:t>
            </a:r>
            <a:endParaRPr lang="en-US" sz="1300" dirty="0"/>
          </a:p>
        </p:txBody>
      </p:sp>
      <p:sp>
        <p:nvSpPr>
          <p:cNvPr id="17" name="Legal arrow"/>
          <p:cNvSpPr/>
          <p:nvPr/>
        </p:nvSpPr>
        <p:spPr>
          <a:xfrm>
            <a:off x="4160520" y="2642616"/>
            <a:ext cx="201168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18" name="Legal senior"/>
          <p:cNvSpPr/>
          <p:nvPr/>
        </p:nvSpPr>
        <p:spPr>
          <a:xfrm>
            <a:off x="4453128" y="2395728"/>
            <a:ext cx="1691640" cy="694944"/>
          </a:xfrm>
          <a:prstGeom prst="roundRect">
            <a:avLst>
              <a:gd name="adj" fmla="val 15789"/>
            </a:avLst>
          </a:prstGeom>
          <a:solidFill>
            <a:srgbClr val="E3F3E9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6177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Senior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approval</a:t>
            </a:r>
            <a:endParaRPr lang="en-US" sz="1300" dirty="0"/>
          </a:p>
        </p:txBody>
      </p:sp>
      <p:sp>
        <p:nvSpPr>
          <p:cNvPr id="20" name="Regulatory circle"/>
          <p:cNvSpPr/>
          <p:nvPr/>
        </p:nvSpPr>
        <p:spPr>
          <a:xfrm>
            <a:off x="457200" y="3401568"/>
            <a:ext cx="548640" cy="548640"/>
          </a:xfrm>
          <a:prstGeom prst="ellipse">
            <a:avLst/>
          </a:prstGeom>
          <a:solidFill>
            <a:srgbClr val="204289"/>
          </a:solidFill>
          <a:ln/>
        </p:spPr>
      </p:sp>
      <p:pic>
        <p:nvPicPr>
          <p:cNvPr id="21" name="Regulatory icon" descr="/home/user/MedLR/proposal/assets/icons/file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544214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35295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Regulatory</a:t>
            </a:r>
            <a:endParaRPr lang="en-US" sz="1600" dirty="0"/>
          </a:p>
        </p:txBody>
      </p:sp>
      <p:sp>
        <p:nvSpPr>
          <p:cNvPr id="23" name="Regulatory junior"/>
          <p:cNvSpPr/>
          <p:nvPr/>
        </p:nvSpPr>
        <p:spPr>
          <a:xfrm>
            <a:off x="2286000" y="3328416"/>
            <a:ext cx="178308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2450592" y="3447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Junior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Reviews, passes on</a:t>
            </a:r>
            <a:endParaRPr lang="en-US" sz="1300" dirty="0"/>
          </a:p>
        </p:txBody>
      </p:sp>
      <p:sp>
        <p:nvSpPr>
          <p:cNvPr id="25" name="Regulatory arrow"/>
          <p:cNvSpPr/>
          <p:nvPr/>
        </p:nvSpPr>
        <p:spPr>
          <a:xfrm>
            <a:off x="4160520" y="3575304"/>
            <a:ext cx="201168" cy="201168"/>
          </a:xfrm>
          <a:prstGeom prst="rightArrow">
            <a:avLst/>
          </a:prstGeom>
          <a:solidFill>
            <a:srgbClr val="DDE5E0"/>
          </a:solidFill>
          <a:ln/>
        </p:spPr>
      </p:sp>
      <p:sp>
        <p:nvSpPr>
          <p:cNvPr id="26" name="Regulatory senior"/>
          <p:cNvSpPr/>
          <p:nvPr/>
        </p:nvSpPr>
        <p:spPr>
          <a:xfrm>
            <a:off x="4453128" y="3328416"/>
            <a:ext cx="1691640" cy="694944"/>
          </a:xfrm>
          <a:prstGeom prst="roundRect">
            <a:avLst>
              <a:gd name="adj" fmla="val 15789"/>
            </a:avLst>
          </a:prstGeom>
          <a:solidFill>
            <a:srgbClr val="E3F3E9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4617720" y="34472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Senior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approval</a:t>
            </a:r>
            <a:endParaRPr lang="en-US" sz="1300" dirty="0"/>
          </a:p>
        </p:txBody>
      </p:sp>
      <p:sp>
        <p:nvSpPr>
          <p:cNvPr id="28" name="Configurable route"/>
          <p:cNvSpPr/>
          <p:nvPr/>
        </p:nvSpPr>
        <p:spPr>
          <a:xfrm>
            <a:off x="6446520" y="1463040"/>
            <a:ext cx="2240280" cy="2560320"/>
          </a:xfrm>
          <a:prstGeom prst="roundRect">
            <a:avLst>
              <a:gd name="adj" fmla="val 4898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66751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Configurable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675120" y="201168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Add, remove or reorder steps by drag and drop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Senior-only routes for low-risk updates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Email steps notify chosen people when a step is approved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Every reviewer sees exactly what they can decide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workspace from the working prototype</a:t>
            </a:r>
            <a:endParaRPr lang="en-US" sz="1300" dirty="0"/>
          </a:p>
        </p:txBody>
      </p:sp>
      <p:sp>
        <p:nvSpPr>
          <p:cNvPr id="4" name="Review workspace screenshot frame"/>
          <p:cNvSpPr/>
          <p:nvPr/>
        </p:nvSpPr>
        <p:spPr>
          <a:xfrm>
            <a:off x="457200" y="1316736"/>
            <a:ext cx="5047488" cy="3195828"/>
          </a:xfrm>
          <a:prstGeom prst="roundRect">
            <a:avLst>
              <a:gd name="adj" fmla="val 2289"/>
            </a:avLst>
          </a:prstGeom>
          <a:solidFill>
            <a:srgbClr val="0D1F17"/>
          </a:solidFill>
          <a:ln/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pic>
        <p:nvPicPr>
          <p:cNvPr id="5" name="Review workspace screenshot" descr="/home/user/MedLR/proposal/assets/shot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71600"/>
            <a:ext cx="4937760" cy="3086100"/>
          </a:xfrm>
          <a:prstGeom prst="rect">
            <a:avLst/>
          </a:prstGeom>
        </p:spPr>
      </p:pic>
      <p:sp>
        <p:nvSpPr>
          <p:cNvPr id="6" name="Clear authority circle"/>
          <p:cNvSpPr/>
          <p:nvPr/>
        </p:nvSpPr>
        <p:spPr>
          <a:xfrm>
            <a:off x="5806440" y="1417320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7" name="Clear authority icon" descr="/home/user/MedLR/proposal/assets/icons/shield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536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0" y="1399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Clear authority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17099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Step, current reviewer and what they can approve.</a:t>
            </a:r>
            <a:endParaRPr lang="en-US" sz="1200" dirty="0"/>
          </a:p>
        </p:txBody>
      </p:sp>
      <p:sp>
        <p:nvSpPr>
          <p:cNvPr id="10" name="One-click decisions circle"/>
          <p:cNvSpPr/>
          <p:nvPr/>
        </p:nvSpPr>
        <p:spPr>
          <a:xfrm>
            <a:off x="5806440" y="2441448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11" name="One-click decisions icon" descr="/home/user/MedLR/proposal/assets/icons/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5603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0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One-click decisions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7340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Send to Senior, request changes, return or reject.</a:t>
            </a:r>
            <a:endParaRPr lang="en-US" sz="1200" dirty="0"/>
          </a:p>
        </p:txBody>
      </p:sp>
      <p:sp>
        <p:nvSpPr>
          <p:cNvPr id="14" name="Full history circle"/>
          <p:cNvSpPr/>
          <p:nvPr/>
        </p:nvSpPr>
        <p:spPr>
          <a:xfrm>
            <a:off x="5806440" y="3465576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15" name="Full history icon" descr="/home/user/MedLR/proposal/assets/icons/history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35844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0" y="3447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Full history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40080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comment kept with role and seniority.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Assets built from approved modules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Approved content is locked; new text is flagged for review</a:t>
            </a:r>
            <a:endParaRPr lang="en-US" sz="1300" dirty="0"/>
          </a:p>
        </p:txBody>
      </p:sp>
      <p:sp>
        <p:nvSpPr>
          <p:cNvPr id="4" name="Drag and drop circle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5" name="Drag and drop icon" descr="/home/user/MedLR/proposal/assets/icons/lay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36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Drag and drop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709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 modules from the library onto the asset.</a:t>
            </a:r>
            <a:endParaRPr lang="en-US" sz="1200" dirty="0"/>
          </a:p>
        </p:txBody>
      </p:sp>
      <p:sp>
        <p:nvSpPr>
          <p:cNvPr id="8" name="Automatic checks circle"/>
          <p:cNvSpPr/>
          <p:nvPr/>
        </p:nvSpPr>
        <p:spPr>
          <a:xfrm>
            <a:off x="457200" y="2441448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pic>
        <p:nvPicPr>
          <p:cNvPr id="9" name="Automatic checks icon" descr="/home/user/MedLR/proposal/assets/icons/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56032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423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Automatic checks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7340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Approved, market, channel and expiry are validated.</a:t>
            </a:r>
            <a:endParaRPr lang="en-US" sz="1200" dirty="0"/>
          </a:p>
        </p:txBody>
      </p:sp>
      <p:sp>
        <p:nvSpPr>
          <p:cNvPr id="12" name="New content detected circle"/>
          <p:cNvSpPr/>
          <p:nvPr/>
        </p:nvSpPr>
        <p:spPr>
          <a:xfrm>
            <a:off x="457200" y="3465576"/>
            <a:ext cx="457200" cy="457200"/>
          </a:xfrm>
          <a:prstGeom prst="ellipse">
            <a:avLst/>
          </a:prstGeom>
          <a:solidFill>
            <a:srgbClr val="C8961C"/>
          </a:solidFill>
          <a:ln/>
        </p:spPr>
      </p:sp>
      <p:pic>
        <p:nvPicPr>
          <p:cNvPr id="13" name="New content detected icon" descr="/home/user/MedLR/proposal/assets/icons/ale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844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447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New content detected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758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new text goes through full MLR review.</a:t>
            </a:r>
            <a:endParaRPr lang="en-US" sz="1200" dirty="0"/>
          </a:p>
        </p:txBody>
      </p:sp>
      <p:sp>
        <p:nvSpPr>
          <p:cNvPr id="16" name="Asset screenshot frame"/>
          <p:cNvSpPr/>
          <p:nvPr/>
        </p:nvSpPr>
        <p:spPr>
          <a:xfrm>
            <a:off x="3639312" y="1316736"/>
            <a:ext cx="5047488" cy="3195828"/>
          </a:xfrm>
          <a:prstGeom prst="roundRect">
            <a:avLst>
              <a:gd name="adj" fmla="val 2289"/>
            </a:avLst>
          </a:prstGeom>
          <a:solidFill>
            <a:srgbClr val="0D1F17"/>
          </a:solidFill>
          <a:ln/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pic>
        <p:nvPicPr>
          <p:cNvPr id="17" name="Asset screenshot" descr="/home/user/MedLR/proposal/assets/shot-ass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1371600"/>
            <a:ext cx="4937760" cy="3086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Change is controlled, end to end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new version never breaks content that is already live</a:t>
            </a:r>
            <a:endParaRPr lang="en-US" sz="1300" dirty="0"/>
          </a:p>
        </p:txBody>
      </p:sp>
      <p:sp>
        <p:nvSpPr>
          <p:cNvPr id="4" name="Version v1"/>
          <p:cNvSpPr/>
          <p:nvPr/>
        </p:nvSpPr>
        <p:spPr>
          <a:xfrm>
            <a:off x="457200" y="150876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v1</a:t>
            </a:r>
            <a:endParaRPr lang="en-US" sz="2400" dirty="0"/>
          </a:p>
        </p:txBody>
      </p:sp>
      <p:sp>
        <p:nvSpPr>
          <p:cNvPr id="6" name="Status v1"/>
          <p:cNvSpPr/>
          <p:nvPr/>
        </p:nvSpPr>
        <p:spPr>
          <a:xfrm>
            <a:off x="640080" y="2194560"/>
            <a:ext cx="128016" cy="128016"/>
          </a:xfrm>
          <a:prstGeom prst="ellipse">
            <a:avLst/>
          </a:prstGeom>
          <a:solidFill>
            <a:srgbClr val="B8C2B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Superseded</a:t>
            </a:r>
            <a:endParaRPr lang="en-US" sz="1100" dirty="0"/>
          </a:p>
        </p:txBody>
      </p:sp>
      <p:sp>
        <p:nvSpPr>
          <p:cNvPr id="8" name="Version v2"/>
          <p:cNvSpPr/>
          <p:nvPr/>
        </p:nvSpPr>
        <p:spPr>
          <a:xfrm>
            <a:off x="1920240" y="150876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0312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v2</a:t>
            </a:r>
            <a:endParaRPr lang="en-US" sz="2400" dirty="0"/>
          </a:p>
        </p:txBody>
      </p:sp>
      <p:sp>
        <p:nvSpPr>
          <p:cNvPr id="10" name="Status v2"/>
          <p:cNvSpPr/>
          <p:nvPr/>
        </p:nvSpPr>
        <p:spPr>
          <a:xfrm>
            <a:off x="2103120" y="2194560"/>
            <a:ext cx="128016" cy="128016"/>
          </a:xfrm>
          <a:prstGeom prst="ellipse">
            <a:avLst/>
          </a:prstGeom>
          <a:solidFill>
            <a:srgbClr val="0F8A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04288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Live</a:t>
            </a:r>
            <a:endParaRPr lang="en-US" sz="1100" dirty="0"/>
          </a:p>
        </p:txBody>
      </p:sp>
      <p:sp>
        <p:nvSpPr>
          <p:cNvPr id="12" name="Version v3"/>
          <p:cNvSpPr/>
          <p:nvPr/>
        </p:nvSpPr>
        <p:spPr>
          <a:xfrm>
            <a:off x="3383280" y="150876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6616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v3</a:t>
            </a:r>
            <a:endParaRPr lang="en-US" sz="2400" dirty="0"/>
          </a:p>
        </p:txBody>
      </p:sp>
      <p:sp>
        <p:nvSpPr>
          <p:cNvPr id="14" name="Status v3"/>
          <p:cNvSpPr/>
          <p:nvPr/>
        </p:nvSpPr>
        <p:spPr>
          <a:xfrm>
            <a:off x="3566160" y="2194560"/>
            <a:ext cx="128016" cy="128016"/>
          </a:xfrm>
          <a:prstGeom prst="ellipse">
            <a:avLst/>
          </a:prstGeom>
          <a:solidFill>
            <a:srgbClr val="C896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67328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 review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34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v3 is approved, v2 is superseded and every asset still using v2 is listed, with a one-click replace.</a:t>
            </a:r>
            <a:endParaRPr lang="en-US" sz="1400" dirty="0"/>
          </a:p>
        </p:txBody>
      </p:sp>
      <p:sp>
        <p:nvSpPr>
          <p:cNvPr id="17" name="Expiry alerts"/>
          <p:cNvSpPr/>
          <p:nvPr/>
        </p:nvSpPr>
        <p:spPr>
          <a:xfrm>
            <a:off x="5029200" y="1508760"/>
            <a:ext cx="365760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8" name="Expiry alerts circle"/>
          <p:cNvSpPr/>
          <p:nvPr/>
        </p:nvSpPr>
        <p:spPr>
          <a:xfrm>
            <a:off x="5212080" y="1682496"/>
            <a:ext cx="457200" cy="457200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19" name="Expiry alerts icon" descr="/home/user/MedLR/proposal/assets/icons/clo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952" y="1801368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8064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Expiry alerts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1911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Modules close to expiry are flagged before they lapse.</a:t>
            </a:r>
            <a:endParaRPr lang="en-US" sz="1200" dirty="0"/>
          </a:p>
        </p:txBody>
      </p:sp>
      <p:sp>
        <p:nvSpPr>
          <p:cNvPr id="22" name="Audit trail"/>
          <p:cNvSpPr/>
          <p:nvPr/>
        </p:nvSpPr>
        <p:spPr>
          <a:xfrm>
            <a:off x="5029200" y="2468880"/>
            <a:ext cx="365760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23" name="Audit trail circle"/>
          <p:cNvSpPr/>
          <p:nvPr/>
        </p:nvSpPr>
        <p:spPr>
          <a:xfrm>
            <a:off x="5212080" y="2642616"/>
            <a:ext cx="457200" cy="457200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24" name="Audit trail icon" descr="/home/user/MedLR/proposal/assets/icons/history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2761488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80644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806440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action with person, role, seniority and time.</a:t>
            </a:r>
            <a:endParaRPr lang="en-US" sz="1200" dirty="0"/>
          </a:p>
        </p:txBody>
      </p:sp>
      <p:sp>
        <p:nvSpPr>
          <p:cNvPr id="27" name="Notifications"/>
          <p:cNvSpPr/>
          <p:nvPr/>
        </p:nvSpPr>
        <p:spPr>
          <a:xfrm>
            <a:off x="5029200" y="3429000"/>
            <a:ext cx="365760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28" name="Notifications circle"/>
          <p:cNvSpPr/>
          <p:nvPr/>
        </p:nvSpPr>
        <p:spPr>
          <a:xfrm>
            <a:off x="5212080" y="3602736"/>
            <a:ext cx="457200" cy="457200"/>
          </a:xfrm>
          <a:prstGeom prst="ellipse">
            <a:avLst/>
          </a:prstGeom>
          <a:solidFill>
            <a:srgbClr val="0D1F17"/>
          </a:solidFill>
          <a:ln/>
        </p:spPr>
      </p:sp>
      <p:pic>
        <p:nvPicPr>
          <p:cNvPr id="29" name="Notifications icon" descr="/home/user/MedLR/proposal/assets/icons/mail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3721608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80644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580644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right people are told when content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SAJA gains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Faster launches with less review effort and full control</a:t>
            </a:r>
            <a:endParaRPr lang="en-US" sz="1300" dirty="0"/>
          </a:p>
        </p:txBody>
      </p:sp>
      <p:sp>
        <p:nvSpPr>
          <p:cNvPr id="4" name="Value 1"/>
          <p:cNvSpPr/>
          <p:nvPr/>
        </p:nvSpPr>
        <p:spPr>
          <a:xfrm>
            <a:off x="45720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3F3E9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1×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 per module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Approved once, reused in every eligible asset</a:t>
            </a:r>
            <a:endParaRPr lang="en-US" sz="1300" dirty="0"/>
          </a:p>
        </p:txBody>
      </p:sp>
      <p:sp>
        <p:nvSpPr>
          <p:cNvPr id="8" name="Value 2"/>
          <p:cNvSpPr/>
          <p:nvPr/>
        </p:nvSpPr>
        <p:spPr>
          <a:xfrm>
            <a:off x="324612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100%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traceable decisions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Who approved what, when, and at what seniority</a:t>
            </a:r>
            <a:endParaRPr lang="en-US" sz="1300" dirty="0"/>
          </a:p>
        </p:txBody>
      </p:sp>
      <p:sp>
        <p:nvSpPr>
          <p:cNvPr id="12" name="Value 3"/>
          <p:cNvSpPr/>
          <p:nvPr/>
        </p:nvSpPr>
        <p:spPr>
          <a:xfrm>
            <a:off x="603504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markets at launch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Saudi Arabia, UAE and Egypt, with room to grow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Proposed delivery approach</a:t>
            </a:r>
            <a:endParaRPr lang="en-US" sz="2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Indicative phases, to be confirmed together during discovery</a:t>
            </a:r>
            <a:endParaRPr lang="en-US" sz="1300" dirty="0"/>
          </a:p>
        </p:txBody>
      </p:sp>
      <p:sp>
        <p:nvSpPr>
          <p:cNvPr id="4" name="Timeline"/>
          <p:cNvSpPr/>
          <p:nvPr/>
        </p:nvSpPr>
        <p:spPr>
          <a:xfrm>
            <a:off x="731520" y="1874520"/>
            <a:ext cx="7680960" cy="0"/>
          </a:xfrm>
          <a:prstGeom prst="line">
            <a:avLst/>
          </a:prstGeom>
          <a:noFill/>
          <a:ln w="25400">
            <a:solidFill>
              <a:srgbClr val="DDE5E0"/>
            </a:solidFill>
            <a:prstDash val="solid"/>
          </a:ln>
        </p:spPr>
      </p:sp>
      <p:sp>
        <p:nvSpPr>
          <p:cNvPr id="5" name="Phase 1 marker"/>
          <p:cNvSpPr/>
          <p:nvPr/>
        </p:nvSpPr>
        <p:spPr>
          <a:xfrm>
            <a:off x="594360" y="1700784"/>
            <a:ext cx="347472" cy="347472"/>
          </a:xfrm>
          <a:prstGeom prst="ellipse">
            <a:avLst/>
          </a:prstGeom>
          <a:solidFill>
            <a:srgbClr val="0D1F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55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Discovery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weeks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Workflows, roles, markets and integrations confirmed</a:t>
            </a:r>
            <a:endParaRPr lang="en-US" sz="1200" dirty="0"/>
          </a:p>
        </p:txBody>
      </p:sp>
      <p:sp>
        <p:nvSpPr>
          <p:cNvPr id="10" name="Phase 2 marker"/>
          <p:cNvSpPr/>
          <p:nvPr/>
        </p:nvSpPr>
        <p:spPr>
          <a:xfrm>
            <a:off x="2295144" y="1700784"/>
            <a:ext cx="347472" cy="347472"/>
          </a:xfrm>
          <a:prstGeom prst="ellipse">
            <a:avLst/>
          </a:prstGeom>
          <a:solidFill>
            <a:srgbClr val="0D1F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95144" y="1755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95144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weeks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95144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 UX built on the approved prototype</a:t>
            </a:r>
            <a:endParaRPr lang="en-US" sz="1200" dirty="0"/>
          </a:p>
        </p:txBody>
      </p:sp>
      <p:sp>
        <p:nvSpPr>
          <p:cNvPr id="15" name="Phase 3 marker"/>
          <p:cNvSpPr/>
          <p:nvPr/>
        </p:nvSpPr>
        <p:spPr>
          <a:xfrm>
            <a:off x="3995928" y="1700784"/>
            <a:ext cx="347472" cy="347472"/>
          </a:xfrm>
          <a:prstGeom prst="ellipse">
            <a:avLst/>
          </a:prstGeom>
          <a:solidFill>
            <a:srgbClr val="0D1F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95928" y="1755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95928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 weeks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Platform, review engine, library and assets</a:t>
            </a:r>
            <a:endParaRPr lang="en-US" sz="1200" dirty="0"/>
          </a:p>
        </p:txBody>
      </p:sp>
      <p:sp>
        <p:nvSpPr>
          <p:cNvPr id="20" name="Phase 4 marker"/>
          <p:cNvSpPr/>
          <p:nvPr/>
        </p:nvSpPr>
        <p:spPr>
          <a:xfrm>
            <a:off x="5696712" y="1700784"/>
            <a:ext cx="347472" cy="347472"/>
          </a:xfrm>
          <a:prstGeom prst="ellipse">
            <a:avLst/>
          </a:prstGeom>
          <a:solidFill>
            <a:srgbClr val="0D1F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96712" y="1755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96712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96712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weeks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acceptance with SAJA reviewers</a:t>
            </a:r>
            <a:endParaRPr lang="en-US" sz="1200" dirty="0"/>
          </a:p>
        </p:txBody>
      </p:sp>
      <p:sp>
        <p:nvSpPr>
          <p:cNvPr id="25" name="Phase 5 marker"/>
          <p:cNvSpPr/>
          <p:nvPr/>
        </p:nvSpPr>
        <p:spPr>
          <a:xfrm>
            <a:off x="7397496" y="1700784"/>
            <a:ext cx="347472" cy="347472"/>
          </a:xfrm>
          <a:prstGeom prst="ellipse">
            <a:avLst/>
          </a:prstGeom>
          <a:solidFill>
            <a:srgbClr val="0F8A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97496" y="1755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97496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Launch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97496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weeks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97496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Go-live, training and handover</a:t>
            </a:r>
            <a:endParaRPr lang="en-US" sz="1200" dirty="0"/>
          </a:p>
        </p:txBody>
      </p:sp>
      <p:sp>
        <p:nvSpPr>
          <p:cNvPr id="30" name="Prototype note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40080" y="40782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Discovery starts from the working prototype, so SAJA reviews real screens from week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471830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Next steps</a:t>
            </a:r>
            <a:endParaRPr lang="en-US" sz="2600" dirty="0"/>
          </a:p>
        </p:txBody>
      </p:sp>
      <p:sp>
        <p:nvSpPr>
          <p:cNvPr id="3" name="Next step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Review the prototype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CD1"/>
                </a:solidFill>
              </a:rPr>
              <a:t>Walk through the demo journey with SAJA Medical, Legal and Regulatory leads.</a:t>
            </a:r>
            <a:endParaRPr lang="en-US" sz="1300" dirty="0"/>
          </a:p>
        </p:txBody>
      </p:sp>
      <p:sp>
        <p:nvSpPr>
          <p:cNvPr id="7" name="Next step 2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39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Confirm scope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59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CD1"/>
                </a:solidFill>
              </a:rPr>
              <a:t>Agree workflows, user types, markets and integrations.</a:t>
            </a:r>
            <a:endParaRPr lang="en-US" sz="1300" dirty="0"/>
          </a:p>
        </p:txBody>
      </p:sp>
      <p:sp>
        <p:nvSpPr>
          <p:cNvPr id="11" name="Next step 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F8A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Start discovery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27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CD1"/>
                </a:solidFill>
              </a:rPr>
              <a:t>Kick off the first phase and set the delivery plan.</a:t>
            </a:r>
            <a:endParaRPr lang="en-US" sz="1300" dirty="0"/>
          </a:p>
        </p:txBody>
      </p:sp>
      <p:sp>
        <p:nvSpPr>
          <p:cNvPr id="15" name="Logo card"/>
          <p:cNvSpPr/>
          <p:nvPr/>
        </p:nvSpPr>
        <p:spPr>
          <a:xfrm>
            <a:off x="5394960" y="1188720"/>
            <a:ext cx="3291840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D1F17">
                <a:alpha val="16000"/>
              </a:srgbClr>
            </a:outerShdw>
          </a:effectLst>
        </p:spPr>
      </p:sp>
      <p:pic>
        <p:nvPicPr>
          <p:cNvPr id="16" name="SAJA logo" descr="/home/user/MedLR/proposal/assets/saj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743" y="1417320"/>
            <a:ext cx="1882274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94960" y="1938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×</a:t>
            </a:r>
            <a:endParaRPr lang="en-US" sz="1800" dirty="0"/>
          </a:p>
        </p:txBody>
      </p:sp>
      <p:pic>
        <p:nvPicPr>
          <p:cNvPr id="18" name="Blue InTelligancia logo" descr="/home/user/MedLR/proposal/assets/company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655" y="2377440"/>
            <a:ext cx="2296450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E0A0"/>
                </a:solidFill>
              </a:rPr>
              <a:t>Try the prototype: ali-usama-gaber.github.io/MedLR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5A8"/>
                </a:solidFill>
              </a:rPr>
              <a:t>All products, people and data in the prototype are fictional.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JA MedLR Proposal">
  <a:themeElements>
    <a:clrScheme name="SAJA MedLR Proposal">
      <a:dk1>
        <a:srgbClr val="17201C"/>
      </a:dk1>
      <a:lt1>
        <a:srgbClr val="FFFFFF"/>
      </a:lt1>
      <a:dk2>
        <a:srgbClr val="0D1F17"/>
      </a:dk2>
      <a:lt2>
        <a:srgbClr val="F2F5F3"/>
      </a:lt2>
      <a:accent1>
        <a:srgbClr val="0F8A4B"/>
      </a:accent1>
      <a:accent2>
        <a:srgbClr val="204289"/>
      </a:accent2>
      <a:accent3>
        <a:srgbClr val="C8961C"/>
      </a:accent3>
      <a:accent4>
        <a:srgbClr val="D23A42"/>
      </a:accent4>
      <a:accent5>
        <a:srgbClr val="5FE0A0"/>
      </a:accent5>
      <a:accent6>
        <a:srgbClr val="6DCFF6"/>
      </a:accent6>
      <a:hlink>
        <a:srgbClr val="0F8A4B"/>
      </a:hlink>
      <a:folHlink>
        <a:srgbClr val="204289"/>
      </a:folHlink>
    </a:clrScheme>
    <a:fontScheme name="SAJA MedLR Propos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Blue | InTelligancia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SAJA MedLR proposal</dc:title>
  <dc:subject>PptxGenJS Presentation</dc:subject>
  <dc:creator>Blue | InTelligancia</dc:creator>
  <cp:lastModifiedBy>Blue | InTelligancia</cp:lastModifiedBy>
  <cp:revision>1</cp:revision>
  <dcterms:created xsi:type="dcterms:W3CDTF">2026-10-07T07:22:25Z</dcterms:created>
  <dcterms:modified xsi:type="dcterms:W3CDTF">2026-10-07T07:22:25Z</dcterms:modified>
</cp:coreProperties>
</file>